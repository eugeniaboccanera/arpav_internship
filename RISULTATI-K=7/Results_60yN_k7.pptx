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3" r:id="rId5"/>
    <p:sldId id="262" r:id="rId6"/>
    <p:sldId id="261" r:id="rId7"/>
    <p:sldId id="260" r:id="rId8"/>
    <p:sldId id="259" r:id="rId9"/>
    <p:sldId id="258" r:id="rId10"/>
    <p:sldId id="266" r:id="rId11"/>
    <p:sldId id="269" r:id="rId12"/>
    <p:sldId id="268" r:id="rId1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3" autoAdjust="0"/>
    <p:restoredTop sz="94660"/>
  </p:normalViewPr>
  <p:slideViewPr>
    <p:cSldViewPr snapToGrid="0">
      <p:cViewPr>
        <p:scale>
          <a:sx n="90" d="100"/>
          <a:sy n="90" d="100"/>
        </p:scale>
        <p:origin x="-787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AAD5A66C-2939-CA79-3D3F-54B65500A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="" xmlns:a16="http://schemas.microsoft.com/office/drawing/2014/main" id="{8BA59E2E-25C4-1424-3D65-FF2A170297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="" xmlns:a16="http://schemas.microsoft.com/office/drawing/2014/main" id="{DDEC27A9-CF6F-E471-4777-C71849530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F056F-7D90-4D01-8F7F-A25DF7FB170E}" type="datetimeFigureOut">
              <a:rPr lang="it-IT" smtClean="0"/>
              <a:pPr/>
              <a:t>25/09/2025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="" xmlns:a16="http://schemas.microsoft.com/office/drawing/2014/main" id="{2FACA47B-3DE9-4944-297C-DB3864EF4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="" xmlns:a16="http://schemas.microsoft.com/office/drawing/2014/main" id="{9EF0ABAA-484A-50B1-F3FE-CADF68B9F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AC3E-7B43-4675-B7E8-F3905452412C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="" xmlns:p14="http://schemas.microsoft.com/office/powerpoint/2010/main" val="3950018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3D70660B-BB2A-478F-08EC-88C8777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="" xmlns:a16="http://schemas.microsoft.com/office/drawing/2014/main" id="{E585B8BF-E202-F8B8-C795-120FEA717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="" xmlns:a16="http://schemas.microsoft.com/office/drawing/2014/main" id="{43169E03-C30C-CC8F-5F75-C6AA55185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F056F-7D90-4D01-8F7F-A25DF7FB170E}" type="datetimeFigureOut">
              <a:rPr lang="it-IT" smtClean="0"/>
              <a:pPr/>
              <a:t>25/09/2025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="" xmlns:a16="http://schemas.microsoft.com/office/drawing/2014/main" id="{766774DD-C2B6-5075-9147-C9F6AD31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="" xmlns:a16="http://schemas.microsoft.com/office/drawing/2014/main" id="{7658C087-96D4-CB56-9D68-CFF345025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AC3E-7B43-4675-B7E8-F3905452412C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="" xmlns:p14="http://schemas.microsoft.com/office/powerpoint/2010/main" val="3610455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A637D14E-68E7-1053-4820-449C8F9F9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="" xmlns:a16="http://schemas.microsoft.com/office/drawing/2014/main" id="{74593F81-C232-17C2-BACB-CA98995CF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="" xmlns:a16="http://schemas.microsoft.com/office/drawing/2014/main" id="{3EE4A4F1-1934-6A4B-C5D0-A9A4F95F8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F056F-7D90-4D01-8F7F-A25DF7FB170E}" type="datetimeFigureOut">
              <a:rPr lang="it-IT" smtClean="0"/>
              <a:pPr/>
              <a:t>25/09/2025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="" xmlns:a16="http://schemas.microsoft.com/office/drawing/2014/main" id="{C39CE01F-BE3B-4420-AA78-57F09E39B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="" xmlns:a16="http://schemas.microsoft.com/office/drawing/2014/main" id="{43950B4D-59F7-5D8C-258B-030DD5284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AC3E-7B43-4675-B7E8-F3905452412C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="" xmlns:p14="http://schemas.microsoft.com/office/powerpoint/2010/main" val="3848583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83049DED-B4BD-EB1B-155C-CB4F5C26F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="" xmlns:a16="http://schemas.microsoft.com/office/drawing/2014/main" id="{EB0E4C0C-C03E-9DA5-85F5-BA30615510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="" xmlns:a16="http://schemas.microsoft.com/office/drawing/2014/main" id="{E8A1754C-C560-3214-24E2-6428D57BA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="" xmlns:a16="http://schemas.microsoft.com/office/drawing/2014/main" id="{30BD792F-36A2-4BC0-184C-4FDCE5341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F056F-7D90-4D01-8F7F-A25DF7FB170E}" type="datetimeFigureOut">
              <a:rPr lang="it-IT" smtClean="0"/>
              <a:pPr/>
              <a:t>25/09/2025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="" xmlns:a16="http://schemas.microsoft.com/office/drawing/2014/main" id="{37A68562-B723-1472-2DBB-ABFDADFE8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="" xmlns:a16="http://schemas.microsoft.com/office/drawing/2014/main" id="{31590F25-09F2-F98D-D454-A748B4B0E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AC3E-7B43-4675-B7E8-F3905452412C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="" xmlns:p14="http://schemas.microsoft.com/office/powerpoint/2010/main" val="264266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F5DBD0E1-0AD6-687D-5B59-77DD55467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="" xmlns:a16="http://schemas.microsoft.com/office/drawing/2014/main" id="{33D53E55-E25D-3E3B-AC26-9F626FDA5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="" xmlns:a16="http://schemas.microsoft.com/office/drawing/2014/main" id="{B5B152F9-9420-E84D-4C64-63B21ABEE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="" xmlns:a16="http://schemas.microsoft.com/office/drawing/2014/main" id="{DF3D8DAE-83A7-D665-2FB6-D1499731D0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="" xmlns:a16="http://schemas.microsoft.com/office/drawing/2014/main" id="{A8DE6CF2-0C3F-33D0-B986-D9B340F11C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="" xmlns:a16="http://schemas.microsoft.com/office/drawing/2014/main" id="{91D6C6E6-652A-AE67-B75D-36E2C8E49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F056F-7D90-4D01-8F7F-A25DF7FB170E}" type="datetimeFigureOut">
              <a:rPr lang="it-IT" smtClean="0"/>
              <a:pPr/>
              <a:t>25/09/2025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="" xmlns:a16="http://schemas.microsoft.com/office/drawing/2014/main" id="{D1C3BF0E-40DB-2A48-87F6-2AB4E1DB4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="" xmlns:a16="http://schemas.microsoft.com/office/drawing/2014/main" id="{943DB23D-CA41-B16A-E195-B4CE6EA3C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AC3E-7B43-4675-B7E8-F3905452412C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="" xmlns:p14="http://schemas.microsoft.com/office/powerpoint/2010/main" val="2457199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7DCF181C-6366-D9AE-A4A6-619645AA1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="" xmlns:a16="http://schemas.microsoft.com/office/drawing/2014/main" id="{76F3B790-1A3C-C91A-2627-D74AEC8E5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F056F-7D90-4D01-8F7F-A25DF7FB170E}" type="datetimeFigureOut">
              <a:rPr lang="it-IT" smtClean="0"/>
              <a:pPr/>
              <a:t>25/09/2025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="" xmlns:a16="http://schemas.microsoft.com/office/drawing/2014/main" id="{363436D0-EAF5-0D44-F0AF-DAE6D148C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="" xmlns:a16="http://schemas.microsoft.com/office/drawing/2014/main" id="{AA579760-B558-17D9-4B36-02A3EC763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AC3E-7B43-4675-B7E8-F3905452412C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="" xmlns:p14="http://schemas.microsoft.com/office/powerpoint/2010/main" val="3921869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="" xmlns:a16="http://schemas.microsoft.com/office/drawing/2014/main" id="{7F6C5E24-2006-C596-ADE1-0CBB10DA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F056F-7D90-4D01-8F7F-A25DF7FB170E}" type="datetimeFigureOut">
              <a:rPr lang="it-IT" smtClean="0"/>
              <a:pPr/>
              <a:t>25/09/2025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="" xmlns:a16="http://schemas.microsoft.com/office/drawing/2014/main" id="{27E0635B-1760-9E0C-2A03-81741329E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="" xmlns:a16="http://schemas.microsoft.com/office/drawing/2014/main" id="{5EAD1101-D67F-E48B-9109-0E2A81C00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AC3E-7B43-4675-B7E8-F3905452412C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="" xmlns:p14="http://schemas.microsoft.com/office/powerpoint/2010/main" val="871558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26B6D35D-F210-6BD8-04C7-C56BB2EAC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="" xmlns:a16="http://schemas.microsoft.com/office/drawing/2014/main" id="{DF0F2D89-E587-A2D2-9295-B266BD715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="" xmlns:a16="http://schemas.microsoft.com/office/drawing/2014/main" id="{867631DD-DA9C-991B-3491-6F491D992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="" xmlns:a16="http://schemas.microsoft.com/office/drawing/2014/main" id="{A08481DB-01F4-F7F4-E3F9-333E47132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F056F-7D90-4D01-8F7F-A25DF7FB170E}" type="datetimeFigureOut">
              <a:rPr lang="it-IT" smtClean="0"/>
              <a:pPr/>
              <a:t>25/09/2025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="" xmlns:a16="http://schemas.microsoft.com/office/drawing/2014/main" id="{77FEF64B-4071-F2BE-8EF6-ED4AD0CB2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="" xmlns:a16="http://schemas.microsoft.com/office/drawing/2014/main" id="{7FC107A7-D307-9633-66DD-73CEFE18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AC3E-7B43-4675-B7E8-F3905452412C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="" xmlns:p14="http://schemas.microsoft.com/office/powerpoint/2010/main" val="1477195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B31F28A2-C192-41B0-4F8D-8F84888C8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="" xmlns:a16="http://schemas.microsoft.com/office/drawing/2014/main" id="{F2906131-047D-96FF-9FA6-CF09F799A8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="" xmlns:a16="http://schemas.microsoft.com/office/drawing/2014/main" id="{535E3FFD-48D9-6CCB-52D0-59B6D4BC6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="" xmlns:a16="http://schemas.microsoft.com/office/drawing/2014/main" id="{E253F8E8-5A79-EBB3-CFC6-445C0D716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F056F-7D90-4D01-8F7F-A25DF7FB170E}" type="datetimeFigureOut">
              <a:rPr lang="it-IT" smtClean="0"/>
              <a:pPr/>
              <a:t>25/09/2025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="" xmlns:a16="http://schemas.microsoft.com/office/drawing/2014/main" id="{6AE90211-558B-C6B0-ACFB-66ACCD76B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="" xmlns:a16="http://schemas.microsoft.com/office/drawing/2014/main" id="{507B9E57-9547-4821-BDA1-C512BD823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AC3E-7B43-4675-B7E8-F3905452412C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="" xmlns:p14="http://schemas.microsoft.com/office/powerpoint/2010/main" val="3622092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C07BBCAC-2535-5A6D-085A-51437F667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="" xmlns:a16="http://schemas.microsoft.com/office/drawing/2014/main" id="{A47D3A2D-A62D-994B-AA5A-1C66E551A8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="" xmlns:a16="http://schemas.microsoft.com/office/drawing/2014/main" id="{16DD0525-244A-D568-158E-3405484A1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F056F-7D90-4D01-8F7F-A25DF7FB170E}" type="datetimeFigureOut">
              <a:rPr lang="it-IT" smtClean="0"/>
              <a:pPr/>
              <a:t>25/09/2025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="" xmlns:a16="http://schemas.microsoft.com/office/drawing/2014/main" id="{20380A1E-85A6-829D-9F5E-720DC6E7B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="" xmlns:a16="http://schemas.microsoft.com/office/drawing/2014/main" id="{A043DFC4-F721-1C2B-FC79-555135ADD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AC3E-7B43-4675-B7E8-F3905452412C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="" xmlns:p14="http://schemas.microsoft.com/office/powerpoint/2010/main" val="2044290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="" xmlns:a16="http://schemas.microsoft.com/office/drawing/2014/main" id="{C4A040AC-E3FB-397A-BF04-1C9173E3C3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="" xmlns:a16="http://schemas.microsoft.com/office/drawing/2014/main" id="{9FC87541-D0AD-6B3B-E266-7414AF995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="" xmlns:a16="http://schemas.microsoft.com/office/drawing/2014/main" id="{9C0C69D1-1E4B-B980-34F2-F3DEFA5E3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F056F-7D90-4D01-8F7F-A25DF7FB170E}" type="datetimeFigureOut">
              <a:rPr lang="it-IT" smtClean="0"/>
              <a:pPr/>
              <a:t>25/09/2025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="" xmlns:a16="http://schemas.microsoft.com/office/drawing/2014/main" id="{5A93C9F9-23E7-7F9E-75E5-E5BB3F468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="" xmlns:a16="http://schemas.microsoft.com/office/drawing/2014/main" id="{7C7B170A-9E83-C23C-86E0-517896C9F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AC3E-7B43-4675-B7E8-F3905452412C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="" xmlns:p14="http://schemas.microsoft.com/office/powerpoint/2010/main" val="335108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="" xmlns:a16="http://schemas.microsoft.com/office/drawing/2014/main" id="{FF7A5F52-13B2-19A0-92EE-E8561E032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="" xmlns:a16="http://schemas.microsoft.com/office/drawing/2014/main" id="{F020CD6A-F43D-B042-A618-45621373C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="" xmlns:a16="http://schemas.microsoft.com/office/drawing/2014/main" id="{1257892E-3A43-1B58-58EB-153612668F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BF056F-7D90-4D01-8F7F-A25DF7FB170E}" type="datetimeFigureOut">
              <a:rPr lang="it-IT" smtClean="0"/>
              <a:pPr/>
              <a:t>25/09/2025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="" xmlns:a16="http://schemas.microsoft.com/office/drawing/2014/main" id="{A3571D9A-D1A3-C051-EF46-76270A4C0A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="" xmlns:a16="http://schemas.microsoft.com/office/drawing/2014/main" id="{25E5EDA3-0F5C-6986-5B59-07AAD13E2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9AC3E-7B43-4675-B7E8-F3905452412C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="" xmlns:p14="http://schemas.microsoft.com/office/powerpoint/2010/main" val="2602155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="" xmlns:a16="http://schemas.microsoft.com/office/drawing/2014/main" id="{B94F5C3A-B321-48C0-6565-DD70ADD8D37F}"/>
              </a:ext>
            </a:extLst>
          </p:cNvPr>
          <p:cNvSpPr txBox="1"/>
          <p:nvPr/>
        </p:nvSpPr>
        <p:spPr>
          <a:xfrm>
            <a:off x="3550527" y="2615381"/>
            <a:ext cx="50909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ANALISI 60 ANNI – NORMALIZZATI CORRETTEMENTE</a:t>
            </a:r>
          </a:p>
          <a:p>
            <a:pPr algn="ctr"/>
            <a:r>
              <a:rPr lang="it-IT" dirty="0">
                <a:solidFill>
                  <a:srgbClr val="FF0000"/>
                </a:solidFill>
              </a:rPr>
              <a:t>K= 7</a:t>
            </a:r>
          </a:p>
        </p:txBody>
      </p:sp>
    </p:spTree>
    <p:extLst>
      <p:ext uri="{BB962C8B-B14F-4D97-AF65-F5344CB8AC3E}">
        <p14:creationId xmlns="" xmlns:p14="http://schemas.microsoft.com/office/powerpoint/2010/main" val="1736501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558C574-3A32-A6B1-6E1D-38AE73D85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="" xmlns:a16="http://schemas.microsoft.com/office/drawing/2014/main" id="{6EC096EE-EB31-1671-1375-A457C79DEC1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19496" y="318547"/>
            <a:ext cx="8020852" cy="596098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78309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A81001-29DF-974A-3400-C2F37F929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="" xmlns:a16="http://schemas.microsoft.com/office/drawing/2014/main" id="{6BA9416F-C2C1-42DC-EAEA-18502DB48B7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88030" y="212035"/>
            <a:ext cx="4677882" cy="617384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70780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6335E33-3974-3A50-7608-777A06C97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="" xmlns:a16="http://schemas.microsoft.com/office/drawing/2014/main" id="{B1401215-D2BF-7718-6ECB-C3279E6633F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1270" y="244807"/>
            <a:ext cx="7024958" cy="2962219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="" xmlns:a16="http://schemas.microsoft.com/office/drawing/2014/main" id="{0A1EE7C4-6AB2-7278-7D00-4E44FBE7E47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48938" y="244807"/>
            <a:ext cx="4943061" cy="968681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="" xmlns:a16="http://schemas.microsoft.com/office/drawing/2014/main" id="{69950D73-F40E-1C65-8BA3-3952ECA9469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3423792"/>
            <a:ext cx="7248938" cy="3056522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="" xmlns:a16="http://schemas.microsoft.com/office/drawing/2014/main" id="{6ADB1779-ADAB-D59D-5CE3-9272F6E3B030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762338" y="5738779"/>
            <a:ext cx="4263859" cy="835987"/>
          </a:xfrm>
          <a:prstGeom prst="rect">
            <a:avLst/>
          </a:prstGeom>
        </p:spPr>
      </p:pic>
      <p:sp>
        <p:nvSpPr>
          <p:cNvPr id="6" name="TextShape 1"/>
          <p:cNvSpPr txBox="1"/>
          <p:nvPr/>
        </p:nvSpPr>
        <p:spPr>
          <a:xfrm>
            <a:off x="7584120" y="1275480"/>
            <a:ext cx="3456000" cy="14788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it-IT" sz="1200" b="0" strike="noStrike" spc="-1" dirty="0">
                <a:latin typeface="Arial"/>
              </a:rPr>
              <a:t>Periodi caldi della mezza stagione e comparse </a:t>
            </a:r>
            <a:r>
              <a:rPr lang="it-IT" sz="1200" b="0" strike="noStrike" spc="-1" dirty="0" smtClean="0">
                <a:latin typeface="Arial"/>
              </a:rPr>
              <a:t>ai margini dell’estate.</a:t>
            </a:r>
            <a:endParaRPr lang="it-IT" sz="1200" b="0" strike="noStrike" spc="-1" dirty="0">
              <a:latin typeface="Arial"/>
            </a:endParaRPr>
          </a:p>
          <a:p>
            <a:r>
              <a:rPr lang="it-IT" sz="1200" b="0" strike="noStrike" spc="-1" dirty="0" smtClean="0">
                <a:latin typeface="Arial"/>
              </a:rPr>
              <a:t>Flusso zonale, clima </a:t>
            </a:r>
            <a:r>
              <a:rPr lang="it-IT" sz="1200" b="0" strike="noStrike" spc="-1" dirty="0">
                <a:latin typeface="Arial"/>
              </a:rPr>
              <a:t>medio </a:t>
            </a:r>
            <a:r>
              <a:rPr lang="it-IT" sz="1200" b="0" strike="noStrike" spc="-1" dirty="0" smtClean="0">
                <a:latin typeface="Arial"/>
              </a:rPr>
              <a:t>caldo</a:t>
            </a:r>
          </a:p>
          <a:p>
            <a:r>
              <a:rPr lang="it-IT" sz="1200" spc="-1" dirty="0" smtClean="0">
                <a:latin typeface="Arial"/>
              </a:rPr>
              <a:t>Tende complessivamente a calare in modo moderato, </a:t>
            </a:r>
            <a:r>
              <a:rPr lang="it-IT" sz="1200" b="0" strike="noStrike" spc="-1" dirty="0" smtClean="0">
                <a:latin typeface="Arial"/>
              </a:rPr>
              <a:t>soppiantato dalle configurazioni estive più calde anche in giugno e settembre,mentre </a:t>
            </a:r>
            <a:r>
              <a:rPr lang="it-IT" sz="1200" b="0" strike="noStrike" spc="-1" dirty="0" smtClean="0">
                <a:latin typeface="Arial"/>
              </a:rPr>
              <a:t>compare maggiormente in maggio </a:t>
            </a:r>
            <a:r>
              <a:rPr lang="it-IT" sz="1200" b="0" strike="noStrike" spc="-1" dirty="0" smtClean="0">
                <a:latin typeface="Arial"/>
              </a:rPr>
              <a:t>e ottobre</a:t>
            </a:r>
            <a:endParaRPr lang="it-IT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200" b="0" strike="noStrike" spc="-1" dirty="0" smtClean="0">
                <a:latin typeface="Arial"/>
              </a:rPr>
              <a:t>-14%</a:t>
            </a:r>
            <a:endParaRPr lang="it-IT" sz="1200" b="0" strike="noStrike" spc="-1" dirty="0">
              <a:latin typeface="Arial"/>
            </a:endParaRPr>
          </a:p>
        </p:txBody>
      </p:sp>
      <p:sp>
        <p:nvSpPr>
          <p:cNvPr id="7" name="TextShape 1"/>
          <p:cNvSpPr txBox="1"/>
          <p:nvPr/>
        </p:nvSpPr>
        <p:spPr>
          <a:xfrm>
            <a:off x="7608504" y="3768744"/>
            <a:ext cx="3456000" cy="14788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it-IT" sz="1200" b="0" strike="noStrike" spc="-1" dirty="0" smtClean="0">
                <a:latin typeface="Arial"/>
              </a:rPr>
              <a:t>Invernale e periodi freddi della mezza stagione</a:t>
            </a:r>
          </a:p>
          <a:p>
            <a:r>
              <a:rPr lang="it-IT" sz="1200" b="0" strike="noStrike" spc="-1" dirty="0" smtClean="0">
                <a:latin typeface="Arial"/>
              </a:rPr>
              <a:t>Flusso zonale, clima medio freddo</a:t>
            </a:r>
          </a:p>
          <a:p>
            <a:r>
              <a:rPr lang="it-IT" sz="1200" b="0" strike="noStrike" spc="-1" dirty="0" smtClean="0">
                <a:latin typeface="Arial"/>
              </a:rPr>
              <a:t>Include rapide perturbazioni </a:t>
            </a:r>
            <a:r>
              <a:rPr lang="it-IT" sz="1200" b="0" strike="noStrike" spc="-1" dirty="0" smtClean="0">
                <a:latin typeface="Arial"/>
              </a:rPr>
              <a:t>atlantiche</a:t>
            </a:r>
          </a:p>
          <a:p>
            <a:r>
              <a:rPr lang="it-IT" sz="1200" spc="-1" dirty="0" smtClean="0">
                <a:latin typeface="Arial"/>
              </a:rPr>
              <a:t>Cambiamento non rilevante</a:t>
            </a:r>
            <a:endParaRPr lang="it-IT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200" b="0" strike="noStrike" spc="-1" dirty="0" smtClean="0">
                <a:latin typeface="Arial"/>
              </a:rPr>
              <a:t>+14%</a:t>
            </a:r>
            <a:endParaRPr lang="it-IT" sz="1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19389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D290F98-A80C-960B-0CCD-0FF250584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="" xmlns:a16="http://schemas.microsoft.com/office/drawing/2014/main" id="{2B3F9348-1765-6E43-E0BF-874C6FA59C3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1149" y="219821"/>
            <a:ext cx="7021685" cy="2960701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="" xmlns:a16="http://schemas.microsoft.com/office/drawing/2014/main" id="{4DDB5707-231A-58C8-8039-694FD31D399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365139" y="219821"/>
            <a:ext cx="4826861" cy="946371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="" xmlns:a16="http://schemas.microsoft.com/office/drawing/2014/main" id="{BC010252-767B-A1BC-B2BB-2E6D03812873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9115" y="3429000"/>
            <a:ext cx="7268012" cy="306456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="" xmlns:a16="http://schemas.microsoft.com/office/drawing/2014/main" id="{CB90D518-E0DD-A0D2-AFBE-D84670C763E1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252280" y="5670152"/>
            <a:ext cx="4939720" cy="968027"/>
          </a:xfrm>
          <a:prstGeom prst="rect">
            <a:avLst/>
          </a:prstGeom>
        </p:spPr>
      </p:pic>
      <p:sp>
        <p:nvSpPr>
          <p:cNvPr id="6" name="TextShape 1"/>
          <p:cNvSpPr txBox="1"/>
          <p:nvPr/>
        </p:nvSpPr>
        <p:spPr>
          <a:xfrm>
            <a:off x="7608504" y="1299864"/>
            <a:ext cx="3456000" cy="14788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it-IT" sz="1200" b="0" strike="noStrike" spc="-1" dirty="0" smtClean="0">
                <a:latin typeface="Arial"/>
              </a:rPr>
              <a:t>Mezza stagione, perturbazioni da N e NW sull’Europa, clima medio freddo, senza trend evidenti, ma tendenza a interessare più facilmente le stagione invernale</a:t>
            </a:r>
          </a:p>
          <a:p>
            <a:r>
              <a:rPr lang="it-IT" sz="1200" b="0" strike="noStrike" spc="-1" dirty="0" smtClean="0">
                <a:latin typeface="Arial"/>
              </a:rPr>
              <a:t>Aumenta la variabilità interannuale dagli anni 2000</a:t>
            </a:r>
          </a:p>
          <a:p>
            <a:pPr>
              <a:lnSpc>
                <a:spcPct val="100000"/>
              </a:lnSpc>
            </a:pPr>
            <a:endParaRPr lang="it-IT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200" b="0" strike="noStrike" spc="-1" dirty="0" smtClean="0">
                <a:latin typeface="Arial"/>
              </a:rPr>
              <a:t>+4%</a:t>
            </a:r>
            <a:endParaRPr lang="it-IT" sz="1200" b="0" strike="noStrike" spc="-1" dirty="0">
              <a:latin typeface="Arial"/>
            </a:endParaRPr>
          </a:p>
        </p:txBody>
      </p:sp>
      <p:sp>
        <p:nvSpPr>
          <p:cNvPr id="7" name="TextShape 1"/>
          <p:cNvSpPr txBox="1"/>
          <p:nvPr/>
        </p:nvSpPr>
        <p:spPr>
          <a:xfrm>
            <a:off x="7605456" y="3831336"/>
            <a:ext cx="3456000" cy="167841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it-IT" sz="1200" b="0" strike="noStrike" spc="-1" dirty="0" smtClean="0">
                <a:latin typeface="Arial"/>
              </a:rPr>
              <a:t>Nettamente estivo, caldo e stabile</a:t>
            </a:r>
          </a:p>
          <a:p>
            <a:r>
              <a:rPr lang="it-IT" sz="1200" spc="-1" dirty="0" smtClean="0">
                <a:latin typeface="Arial"/>
              </a:rPr>
              <a:t>Anticicloni africani, con area di 29 gradi su </a:t>
            </a:r>
            <a:r>
              <a:rPr lang="it-IT" sz="1200" spc="-1" dirty="0" err="1" smtClean="0">
                <a:latin typeface="Arial"/>
              </a:rPr>
              <a:t>sahara</a:t>
            </a:r>
            <a:r>
              <a:rPr lang="it-IT" sz="1200" spc="-1" dirty="0" smtClean="0">
                <a:latin typeface="Arial"/>
              </a:rPr>
              <a:t> centro occidentale</a:t>
            </a:r>
          </a:p>
          <a:p>
            <a:r>
              <a:rPr lang="it-IT" sz="1200" b="0" strike="noStrike" spc="-1" dirty="0" smtClean="0">
                <a:latin typeface="Arial"/>
              </a:rPr>
              <a:t>Sta interessando progressivamente di più i mesi confinali dell’estate, diventando molto più frequente</a:t>
            </a:r>
            <a:endParaRPr lang="it-IT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200" b="0" strike="noStrike" spc="-1" dirty="0" smtClean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200" b="0" strike="noStrike" spc="-1" dirty="0" smtClean="0">
                <a:latin typeface="Arial"/>
              </a:rPr>
              <a:t>+36%</a:t>
            </a:r>
            <a:endParaRPr lang="it-IT" sz="1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40499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2331CBC-7689-8039-7F83-31CCB30DC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="" xmlns:a16="http://schemas.microsoft.com/office/drawing/2014/main" id="{2A4D5F23-16CD-D8AF-9B28-2901E3DE37B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1061" y="159315"/>
            <a:ext cx="7444381" cy="3138931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="" xmlns:a16="http://schemas.microsoft.com/office/drawing/2014/main" id="{19AD9A63-0880-8B45-DF3C-3636E0DECAF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96836" y="299333"/>
            <a:ext cx="4595164" cy="900944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="" xmlns:a16="http://schemas.microsoft.com/office/drawing/2014/main" id="{C31E254A-D62F-E3BE-3C91-93D84E56535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71061" y="3438264"/>
            <a:ext cx="7444380" cy="3138931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="" xmlns:a16="http://schemas.microsoft.com/office/drawing/2014/main" id="{A34B0F47-60BB-3350-2C4D-C81352A1A94C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464315" y="5790739"/>
            <a:ext cx="4727685" cy="926474"/>
          </a:xfrm>
          <a:prstGeom prst="rect">
            <a:avLst/>
          </a:prstGeom>
        </p:spPr>
      </p:pic>
      <p:sp>
        <p:nvSpPr>
          <p:cNvPr id="7" name="TextShape 1"/>
          <p:cNvSpPr txBox="1"/>
          <p:nvPr/>
        </p:nvSpPr>
        <p:spPr>
          <a:xfrm>
            <a:off x="8023387" y="1299864"/>
            <a:ext cx="3456000" cy="192593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it-IT" sz="1200" b="0" strike="noStrike" spc="-1" dirty="0" smtClean="0">
                <a:latin typeface="Arial"/>
              </a:rPr>
              <a:t>Invernale con perturbazioni da N e NW c</a:t>
            </a:r>
            <a:r>
              <a:rPr lang="it-IT" sz="1200" spc="-1" dirty="0" smtClean="0">
                <a:latin typeface="Arial"/>
              </a:rPr>
              <a:t>on ingresso di aria fredda o molto fredda su </a:t>
            </a:r>
            <a:r>
              <a:rPr lang="it-IT" sz="1200" spc="-1" dirty="0" err="1" smtClean="0">
                <a:latin typeface="Arial"/>
              </a:rPr>
              <a:t>europa</a:t>
            </a:r>
            <a:endParaRPr lang="it-IT" sz="1200" b="0" strike="noStrike" spc="-1" dirty="0" smtClean="0">
              <a:latin typeface="Arial"/>
            </a:endParaRPr>
          </a:p>
          <a:p>
            <a:r>
              <a:rPr lang="it-IT" sz="1200" spc="-1" dirty="0" smtClean="0">
                <a:latin typeface="Arial"/>
              </a:rPr>
              <a:t>ATR invernale</a:t>
            </a:r>
            <a:endParaRPr lang="it-IT" sz="1200" b="0" strike="noStrike" spc="-1" dirty="0" smtClean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200" b="0" strike="noStrike" spc="-1" dirty="0" smtClean="0">
                <a:latin typeface="Arial"/>
              </a:rPr>
              <a:t>Calo molto netto, ridotto nella prima fase dell’inverno, soprattutto in dicembre, confinato ai periodi centro-tardi dell’inverno</a:t>
            </a:r>
          </a:p>
          <a:p>
            <a:pPr>
              <a:lnSpc>
                <a:spcPct val="100000"/>
              </a:lnSpc>
            </a:pPr>
            <a:r>
              <a:rPr lang="it-IT" sz="1200" spc="-1" dirty="0" smtClean="0">
                <a:latin typeface="Arial"/>
              </a:rPr>
              <a:t>Riscontra con il netto calo di nevosità su molte zone</a:t>
            </a:r>
            <a:endParaRPr lang="it-IT" sz="1200" b="0" strike="noStrike" spc="-1" dirty="0" smtClean="0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200" b="0" strike="noStrike" spc="-1" dirty="0" smtClean="0">
                <a:latin typeface="Arial"/>
              </a:rPr>
              <a:t>-53%</a:t>
            </a:r>
            <a:endParaRPr lang="it-IT" sz="1200" b="0" strike="noStrike" spc="-1" dirty="0">
              <a:latin typeface="Arial"/>
            </a:endParaRPr>
          </a:p>
        </p:txBody>
      </p:sp>
      <p:sp>
        <p:nvSpPr>
          <p:cNvPr id="8" name="TextShape 1"/>
          <p:cNvSpPr txBox="1"/>
          <p:nvPr/>
        </p:nvSpPr>
        <p:spPr>
          <a:xfrm>
            <a:off x="8023387" y="3831397"/>
            <a:ext cx="3456000" cy="14788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it-IT" sz="1200" b="0" strike="noStrike" spc="-1" dirty="0" smtClean="0">
                <a:latin typeface="Arial"/>
              </a:rPr>
              <a:t>Mezza stagione, perturbazioni da W o NW sull’Europa, clima medio temperato, piovoso su centro ovest del continente, molto in aumento in novembre , </a:t>
            </a:r>
            <a:r>
              <a:rPr lang="it-IT" sz="1200" b="0" strike="noStrike" spc="-1" dirty="0" err="1" smtClean="0">
                <a:latin typeface="Arial"/>
              </a:rPr>
              <a:t>pressochè</a:t>
            </a:r>
            <a:r>
              <a:rPr lang="it-IT" sz="1200" b="0" strike="noStrike" spc="-1" dirty="0" smtClean="0">
                <a:latin typeface="Arial"/>
              </a:rPr>
              <a:t> scomparsa la rara casistica di settembre</a:t>
            </a:r>
          </a:p>
          <a:p>
            <a:endParaRPr lang="it-IT" sz="1200" b="0" strike="noStrike" spc="-1" dirty="0" smtClean="0">
              <a:latin typeface="Arial"/>
            </a:endParaRPr>
          </a:p>
          <a:p>
            <a:endParaRPr lang="it-IT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200" b="0" strike="noStrike" spc="-1" dirty="0" smtClean="0">
                <a:latin typeface="Arial"/>
              </a:rPr>
              <a:t>+15%</a:t>
            </a:r>
            <a:endParaRPr lang="it-IT" sz="1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614229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D72B9E4-3A30-F5B2-AF1A-10408CDDD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="" xmlns:a16="http://schemas.microsoft.com/office/drawing/2014/main" id="{E60FA70D-7E03-BF00-D3B5-CD29EAC0061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8869" y="358098"/>
            <a:ext cx="7283041" cy="3070902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="" xmlns:a16="http://schemas.microsoft.com/office/drawing/2014/main" id="{2F59291B-1611-5B21-3DEA-35822095748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55862" y="358098"/>
            <a:ext cx="4436138" cy="869764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="" xmlns:a16="http://schemas.microsoft.com/office/drawing/2014/main" id="{2A00F9D1-6D64-5F42-E891-FA8C1C57A8B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74262" y="3531898"/>
            <a:ext cx="6645910" cy="3296285"/>
          </a:xfrm>
          <a:prstGeom prst="rect">
            <a:avLst/>
          </a:prstGeom>
        </p:spPr>
      </p:pic>
      <p:sp>
        <p:nvSpPr>
          <p:cNvPr id="5" name="TextShape 1"/>
          <p:cNvSpPr txBox="1"/>
          <p:nvPr/>
        </p:nvSpPr>
        <p:spPr>
          <a:xfrm>
            <a:off x="8023387" y="1299864"/>
            <a:ext cx="3456000" cy="14788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it-IT" sz="1200" b="0" strike="noStrike" spc="-1" dirty="0" smtClean="0">
                <a:latin typeface="Arial"/>
              </a:rPr>
              <a:t>Invernale, con </a:t>
            </a:r>
            <a:r>
              <a:rPr lang="it-IT" sz="1200" b="0" strike="noStrike" spc="-1" dirty="0" err="1" smtClean="0">
                <a:latin typeface="Arial"/>
              </a:rPr>
              <a:t>ridge</a:t>
            </a:r>
            <a:r>
              <a:rPr lang="it-IT" sz="1200" b="0" strike="noStrike" spc="-1" dirty="0" smtClean="0">
                <a:latin typeface="Arial"/>
              </a:rPr>
              <a:t> </a:t>
            </a:r>
            <a:r>
              <a:rPr lang="it-IT" sz="1200" b="0" strike="noStrike" spc="-1" dirty="0" smtClean="0">
                <a:latin typeface="Arial"/>
              </a:rPr>
              <a:t>atlantico che raggiunge l’</a:t>
            </a:r>
            <a:r>
              <a:rPr lang="it-IT" sz="1200" b="0" strike="noStrike" spc="-1" dirty="0" err="1" smtClean="0">
                <a:latin typeface="Arial"/>
              </a:rPr>
              <a:t>europa</a:t>
            </a:r>
            <a:r>
              <a:rPr lang="it-IT" sz="1200" b="0" strike="noStrike" spc="-1" dirty="0" smtClean="0">
                <a:latin typeface="Arial"/>
              </a:rPr>
              <a:t> occidentale. </a:t>
            </a:r>
            <a:r>
              <a:rPr lang="it-IT" sz="1200" spc="-1" dirty="0" smtClean="0">
                <a:latin typeface="Arial"/>
              </a:rPr>
              <a:t>Include </a:t>
            </a:r>
            <a:r>
              <a:rPr lang="it-IT" sz="1200" spc="-1" dirty="0" smtClean="0">
                <a:latin typeface="Arial"/>
              </a:rPr>
              <a:t>fenomeni di </a:t>
            </a:r>
            <a:r>
              <a:rPr lang="it-IT" sz="1200" spc="-1" dirty="0" err="1" smtClean="0">
                <a:latin typeface="Arial"/>
              </a:rPr>
              <a:t>Blocking</a:t>
            </a:r>
            <a:r>
              <a:rPr lang="it-IT" sz="1200" spc="-1" dirty="0" smtClean="0">
                <a:latin typeface="Arial"/>
              </a:rPr>
              <a:t> scandinavo e distribuzioni più orientali dell’anticiclone siberiano</a:t>
            </a:r>
          </a:p>
          <a:p>
            <a:r>
              <a:rPr lang="it-IT" sz="1200" b="0" strike="noStrike" spc="-1" dirty="0" smtClean="0">
                <a:latin typeface="Arial"/>
              </a:rPr>
              <a:t>Lieve calo, forse poco relazionabile a mutamenti di larga scala</a:t>
            </a:r>
          </a:p>
          <a:p>
            <a:pPr>
              <a:lnSpc>
                <a:spcPct val="100000"/>
              </a:lnSpc>
            </a:pPr>
            <a:endParaRPr lang="it-IT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200" b="0" strike="noStrike" spc="-1" dirty="0" smtClean="0">
                <a:latin typeface="Arial"/>
              </a:rPr>
              <a:t>-10%</a:t>
            </a:r>
            <a:endParaRPr lang="it-IT" sz="1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48655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0FC62E8-AE0A-CD5F-2703-A905C055C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="" xmlns:a16="http://schemas.microsoft.com/office/drawing/2014/main" id="{4D1A5A84-9C08-4682-2337-6B192215444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4889" y="342198"/>
            <a:ext cx="5473348" cy="2706342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="" xmlns:a16="http://schemas.microsoft.com/office/drawing/2014/main" id="{33F763B3-D399-F692-5CE9-594A4D9339D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79211" y="342197"/>
            <a:ext cx="5473345" cy="2706341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="" xmlns:a16="http://schemas.microsoft.com/office/drawing/2014/main" id="{BDD2FB7D-F179-6365-C1A2-B977BC369A78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2610" y="3604591"/>
            <a:ext cx="5887678" cy="2911211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="" xmlns:a16="http://schemas.microsoft.com/office/drawing/2014/main" id="{F8B6E3EB-1E50-C996-2BBC-9DA09EB81BC2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181714" y="3604591"/>
            <a:ext cx="5480050" cy="270954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6431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194688A-F0B6-22EE-3ACD-AAC3C4114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="" xmlns:a16="http://schemas.microsoft.com/office/drawing/2014/main" id="{8C3BDE50-675F-DD68-1BB9-D6B3D5087FD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8068" y="516752"/>
            <a:ext cx="5293360" cy="2617470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="" xmlns:a16="http://schemas.microsoft.com/office/drawing/2014/main" id="{1668EE0B-FB38-02AB-483F-7B6AFE69479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919980" y="447537"/>
            <a:ext cx="5573395" cy="2755900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="" xmlns:a16="http://schemas.microsoft.com/office/drawing/2014/main" id="{B7E4C085-91B2-14A1-83E4-B20B69357DE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94749" y="3536439"/>
            <a:ext cx="6645910" cy="309816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858521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1340203-6D0B-57B5-5AD1-F94AAD4F3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="" xmlns:a16="http://schemas.microsoft.com/office/drawing/2014/main" id="{E68D8579-F46B-BDC0-07CE-20346BD623A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511742"/>
            <a:ext cx="5062279" cy="4051370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="" xmlns:a16="http://schemas.microsoft.com/office/drawing/2014/main" id="{22884893-25A8-5CD5-7691-7D2B3FCE17C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80332" y="557585"/>
            <a:ext cx="6645910" cy="531876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9103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EB5838A-C76B-3687-8466-0E27BB63C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="" xmlns:a16="http://schemas.microsoft.com/office/drawing/2014/main" id="{12B0FF26-3209-3864-01AB-54DF5BA4E0A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9642" y="421285"/>
            <a:ext cx="3234690" cy="2571910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="" xmlns:a16="http://schemas.microsoft.com/office/drawing/2014/main" id="{42518073-58D6-898D-E894-B09EA14DB0A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83411" y="346867"/>
            <a:ext cx="3562715" cy="2832547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="" xmlns:a16="http://schemas.microsoft.com/office/drawing/2014/main" id="{70734B63-9E4B-DE34-1DA8-7CF23914E5C4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102830" y="346257"/>
            <a:ext cx="3562715" cy="2833157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="" xmlns:a16="http://schemas.microsoft.com/office/drawing/2014/main" id="{1B2C1DE8-CEFB-24ED-EC89-AB845D1350FF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39642" y="3548505"/>
            <a:ext cx="3234690" cy="2572052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="" xmlns:a16="http://schemas.microsoft.com/office/drawing/2014/main" id="{CEC9E8DE-75CA-E70F-0E69-7CA8650758A1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002641" y="3514175"/>
            <a:ext cx="3458609" cy="261357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="" xmlns:a16="http://schemas.microsoft.com/office/drawing/2014/main" id="{87FB2EEE-07DD-9645-28CF-B1FFB8B889F0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051800" y="3583252"/>
            <a:ext cx="3198698" cy="254312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13015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0587F8B-7EF1-690D-5C28-878B60BDA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="" xmlns:a16="http://schemas.microsoft.com/office/drawing/2014/main" id="{1BA10240-DD4C-DA5F-D7C4-AAD7612344C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73045" y="1781492"/>
            <a:ext cx="6645910" cy="329501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1339534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272</Words>
  <Application>Microsoft Office PowerPoint</Application>
  <PresentationFormat>Personalizzato</PresentationFormat>
  <Paragraphs>36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3" baseType="lpstr">
      <vt:lpstr>Tema di Office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Diapositiva 12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Eugenia Boccanera</dc:creator>
  <cp:lastModifiedBy>fdomenichini</cp:lastModifiedBy>
  <cp:revision>12</cp:revision>
  <dcterms:created xsi:type="dcterms:W3CDTF">2025-09-23T12:48:24Z</dcterms:created>
  <dcterms:modified xsi:type="dcterms:W3CDTF">2025-09-25T12:20:48Z</dcterms:modified>
</cp:coreProperties>
</file>